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4de10a1df_2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f4de10a1df_2_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5" name="Google Shape;55;g3f4de10a1df_2_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4de10a1df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g3f4de10a1df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3" name="Google Shape;63;g3f4de10a1df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4de10a1df_0_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g3f4de10a1df_0_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8" name="Google Shape;88;g3f4de10a1df_0_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4de10a1df_0_5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g3f4de10a1df_0_5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6" name="Google Shape;116;g3f4de10a1df_0_5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4de10a1df_2_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g3f4de10a1df_2_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3" name="Google Shape;143;g3f4de10a1df_2_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4de10a1df_2_1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g3f4de10a1df_2_1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3" name="Google Shape;163;g3f4de10a1df_2_1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4de10a1df_2_7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g3f4de10a1df_2_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3" name="Google Shape;193;g3f4de10a1df_2_7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4de10a1df_2_9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g3f4de10a1df_2_9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7" name="Google Shape;207;g3f4de10a1df_2_9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4de10a1df_2_1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g3f4de10a1df_2_1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5" name="Google Shape;225;g3f4de10a1df_2_1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4de10a1df_0_8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g3f4de10a1df_0_8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1" name="Google Shape;241;g3f4de10a1df_0_8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3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6373850" y="0"/>
            <a:ext cx="2769900" cy="5143500"/>
          </a:xfrm>
          <a:prstGeom prst="rect">
            <a:avLst/>
          </a:prstGeom>
          <a:solidFill>
            <a:srgbClr val="175CD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7429500" y="557213"/>
            <a:ext cx="1714500" cy="1214438"/>
          </a:xfrm>
          <a:prstGeom prst="rect">
            <a:avLst/>
          </a:prstGeom>
          <a:solidFill>
            <a:srgbClr val="B9F5D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342900" y="1285875"/>
            <a:ext cx="58578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Data Validation</a:t>
            </a:r>
            <a:r>
              <a:rPr lang="zh-TW" sz="3600"/>
              <a:t> </a:t>
            </a:r>
            <a:r>
              <a:rPr b="1" lang="zh-TW" sz="3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3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/>
          <p:nvPr/>
        </p:nvSpPr>
        <p:spPr>
          <a:xfrm>
            <a:off x="342900" y="442913"/>
            <a:ext cx="8286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7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一個 Agent，串起資料理解、規則確認與驗證交付</a:t>
            </a:r>
            <a:endParaRPr sz="1100"/>
          </a:p>
        </p:txBody>
      </p:sp>
      <p:cxnSp>
        <p:nvCxnSpPr>
          <p:cNvPr id="66" name="Google Shape;66;p16"/>
          <p:cNvCxnSpPr/>
          <p:nvPr/>
        </p:nvCxnSpPr>
        <p:spPr>
          <a:xfrm>
            <a:off x="342900" y="978694"/>
            <a:ext cx="8458200" cy="0"/>
          </a:xfrm>
          <a:prstGeom prst="straightConnector1">
            <a:avLst/>
          </a:prstGeom>
          <a:noFill/>
          <a:ln cap="flat" cmpd="sng" w="9525">
            <a:solidFill>
              <a:srgbClr val="CA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16"/>
          <p:cNvSpPr/>
          <p:nvPr/>
        </p:nvSpPr>
        <p:spPr>
          <a:xfrm>
            <a:off x="2357438" y="2343150"/>
            <a:ext cx="671400" cy="32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AD0D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6"/>
          <p:cNvSpPr/>
          <p:nvPr/>
        </p:nvSpPr>
        <p:spPr>
          <a:xfrm>
            <a:off x="6072188" y="2343150"/>
            <a:ext cx="671400" cy="32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AD0D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6"/>
          <p:cNvSpPr/>
          <p:nvPr/>
        </p:nvSpPr>
        <p:spPr>
          <a:xfrm>
            <a:off x="514350" y="1385888"/>
            <a:ext cx="585900" cy="585900"/>
          </a:xfrm>
          <a:prstGeom prst="ellipse">
            <a:avLst/>
          </a:prstGeom>
          <a:solidFill>
            <a:srgbClr val="175CD3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▦</a:t>
            </a:r>
            <a:endParaRPr sz="1100"/>
          </a:p>
        </p:txBody>
      </p:sp>
      <p:sp>
        <p:nvSpPr>
          <p:cNvPr id="70" name="Google Shape;70;p16"/>
          <p:cNvSpPr/>
          <p:nvPr/>
        </p:nvSpPr>
        <p:spPr>
          <a:xfrm>
            <a:off x="514350" y="2271713"/>
            <a:ext cx="585900" cy="585900"/>
          </a:xfrm>
          <a:prstGeom prst="ellipse">
            <a:avLst/>
          </a:prstGeom>
          <a:solidFill>
            <a:srgbClr val="B9F5D8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3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≡</a:t>
            </a:r>
            <a:endParaRPr sz="1100"/>
          </a:p>
        </p:txBody>
      </p:sp>
      <p:sp>
        <p:nvSpPr>
          <p:cNvPr id="71" name="Google Shape;71;p16"/>
          <p:cNvSpPr/>
          <p:nvPr/>
        </p:nvSpPr>
        <p:spPr>
          <a:xfrm>
            <a:off x="514350" y="3157538"/>
            <a:ext cx="585900" cy="5859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7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人</a:t>
            </a:r>
            <a:endParaRPr sz="1100"/>
          </a:p>
        </p:txBody>
      </p:sp>
      <p:sp>
        <p:nvSpPr>
          <p:cNvPr id="72" name="Google Shape;72;p16"/>
          <p:cNvSpPr/>
          <p:nvPr/>
        </p:nvSpPr>
        <p:spPr>
          <a:xfrm>
            <a:off x="1257300" y="1535906"/>
            <a:ext cx="1071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資料結構</a:t>
            </a:r>
            <a:endParaRPr sz="1100"/>
          </a:p>
        </p:txBody>
      </p:sp>
      <p:sp>
        <p:nvSpPr>
          <p:cNvPr id="73" name="Google Shape;73;p16"/>
          <p:cNvSpPr/>
          <p:nvPr/>
        </p:nvSpPr>
        <p:spPr>
          <a:xfrm>
            <a:off x="1257300" y="2421731"/>
            <a:ext cx="1071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領域文件</a:t>
            </a:r>
            <a:endParaRPr sz="1100"/>
          </a:p>
        </p:txBody>
      </p:sp>
      <p:sp>
        <p:nvSpPr>
          <p:cNvPr id="74" name="Google Shape;74;p16"/>
          <p:cNvSpPr/>
          <p:nvPr/>
        </p:nvSpPr>
        <p:spPr>
          <a:xfrm>
            <a:off x="1257300" y="3307556"/>
            <a:ext cx="1071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人的判斷</a:t>
            </a:r>
            <a:endParaRPr sz="1100"/>
          </a:p>
        </p:txBody>
      </p:sp>
      <p:sp>
        <p:nvSpPr>
          <p:cNvPr id="75" name="Google Shape;75;p16"/>
          <p:cNvSpPr/>
          <p:nvPr/>
        </p:nvSpPr>
        <p:spPr>
          <a:xfrm>
            <a:off x="3028950" y="1314450"/>
            <a:ext cx="3043200" cy="2600400"/>
          </a:xfrm>
          <a:prstGeom prst="roundRect">
            <a:avLst>
              <a:gd fmla="val 9341" name="adj"/>
            </a:avLst>
          </a:prstGeom>
          <a:solidFill>
            <a:srgbClr val="172A4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4136231" y="1557338"/>
            <a:ext cx="828600" cy="828600"/>
          </a:xfrm>
          <a:prstGeom prst="ellipse">
            <a:avLst/>
          </a:prstGeom>
          <a:solidFill>
            <a:srgbClr val="175CD3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sz="1100"/>
          </a:p>
        </p:txBody>
      </p:sp>
      <p:sp>
        <p:nvSpPr>
          <p:cNvPr id="77" name="Google Shape;77;p16"/>
          <p:cNvSpPr/>
          <p:nvPr/>
        </p:nvSpPr>
        <p:spPr>
          <a:xfrm>
            <a:off x="3343275" y="2543175"/>
            <a:ext cx="24147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Validation Agent</a:t>
            </a:r>
            <a:endParaRPr sz="1100"/>
          </a:p>
        </p:txBody>
      </p:sp>
      <p:sp>
        <p:nvSpPr>
          <p:cNvPr id="78" name="Google Shape;78;p16"/>
          <p:cNvSpPr/>
          <p:nvPr/>
        </p:nvSpPr>
        <p:spPr>
          <a:xfrm>
            <a:off x="7000875" y="1385888"/>
            <a:ext cx="585900" cy="585900"/>
          </a:xfrm>
          <a:prstGeom prst="ellipse">
            <a:avLst/>
          </a:prstGeom>
          <a:solidFill>
            <a:srgbClr val="175CD3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100"/>
          </a:p>
        </p:txBody>
      </p:sp>
      <p:sp>
        <p:nvSpPr>
          <p:cNvPr id="79" name="Google Shape;79;p16"/>
          <p:cNvSpPr/>
          <p:nvPr/>
        </p:nvSpPr>
        <p:spPr>
          <a:xfrm>
            <a:off x="7000875" y="2271713"/>
            <a:ext cx="585900" cy="585900"/>
          </a:xfrm>
          <a:prstGeom prst="ellipse">
            <a:avLst/>
          </a:prstGeom>
          <a:solidFill>
            <a:srgbClr val="B9F5D8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1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⚙</a:t>
            </a:r>
            <a:endParaRPr sz="1100"/>
          </a:p>
        </p:txBody>
      </p:sp>
      <p:sp>
        <p:nvSpPr>
          <p:cNvPr id="80" name="Google Shape;80;p16"/>
          <p:cNvSpPr/>
          <p:nvPr/>
        </p:nvSpPr>
        <p:spPr>
          <a:xfrm>
            <a:off x="7000875" y="3157538"/>
            <a:ext cx="585900" cy="5859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1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▤</a:t>
            </a:r>
            <a:endParaRPr sz="1100"/>
          </a:p>
        </p:txBody>
      </p:sp>
      <p:sp>
        <p:nvSpPr>
          <p:cNvPr id="81" name="Google Shape;81;p16"/>
          <p:cNvSpPr/>
          <p:nvPr/>
        </p:nvSpPr>
        <p:spPr>
          <a:xfrm>
            <a:off x="7715250" y="1535906"/>
            <a:ext cx="1071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已確認規則</a:t>
            </a:r>
            <a:endParaRPr sz="1100"/>
          </a:p>
        </p:txBody>
      </p:sp>
      <p:sp>
        <p:nvSpPr>
          <p:cNvPr id="82" name="Google Shape;82;p16"/>
          <p:cNvSpPr/>
          <p:nvPr/>
        </p:nvSpPr>
        <p:spPr>
          <a:xfrm>
            <a:off x="7715250" y="2421731"/>
            <a:ext cx="1071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驗證套件</a:t>
            </a:r>
            <a:endParaRPr sz="1100"/>
          </a:p>
        </p:txBody>
      </p:sp>
      <p:sp>
        <p:nvSpPr>
          <p:cNvPr id="83" name="Google Shape;83;p16"/>
          <p:cNvSpPr/>
          <p:nvPr/>
        </p:nvSpPr>
        <p:spPr>
          <a:xfrm>
            <a:off x="7715250" y="3307556"/>
            <a:ext cx="1071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測試資料</a:t>
            </a:r>
            <a:endParaRPr sz="1100"/>
          </a:p>
        </p:txBody>
      </p:sp>
      <p:sp>
        <p:nvSpPr>
          <p:cNvPr id="84" name="Google Shape;84;p16"/>
          <p:cNvSpPr/>
          <p:nvPr/>
        </p:nvSpPr>
        <p:spPr>
          <a:xfrm>
            <a:off x="1285875" y="4229100"/>
            <a:ext cx="65724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400">
                <a:solidFill>
                  <a:srgbClr val="175CD3"/>
                </a:solidFill>
                <a:latin typeface="Arial"/>
                <a:ea typeface="Arial"/>
                <a:cs typeface="Arial"/>
                <a:sym typeface="Arial"/>
              </a:rPr>
              <a:t>只要提供語意並確認規則，Agent 負責把它轉成可執行成果。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3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342900" y="442913"/>
            <a:ext cx="8286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7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把不同來源的資訊，整理成一份共同規則</a:t>
            </a:r>
            <a:endParaRPr sz="1100"/>
          </a:p>
        </p:txBody>
      </p:sp>
      <p:cxnSp>
        <p:nvCxnSpPr>
          <p:cNvPr id="91" name="Google Shape;91;p17"/>
          <p:cNvCxnSpPr/>
          <p:nvPr/>
        </p:nvCxnSpPr>
        <p:spPr>
          <a:xfrm>
            <a:off x="342900" y="978694"/>
            <a:ext cx="8458200" cy="0"/>
          </a:xfrm>
          <a:prstGeom prst="straightConnector1">
            <a:avLst/>
          </a:prstGeom>
          <a:noFill/>
          <a:ln cap="flat" cmpd="sng" w="9525">
            <a:solidFill>
              <a:srgbClr val="CA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17"/>
          <p:cNvSpPr/>
          <p:nvPr/>
        </p:nvSpPr>
        <p:spPr>
          <a:xfrm>
            <a:off x="2214563" y="2271713"/>
            <a:ext cx="600000" cy="314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AD0D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6329363" y="2271713"/>
            <a:ext cx="600000" cy="314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75CD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442913" y="1485900"/>
            <a:ext cx="528600" cy="528600"/>
          </a:xfrm>
          <a:prstGeom prst="ellipse">
            <a:avLst/>
          </a:prstGeom>
          <a:solidFill>
            <a:srgbClr val="175CD3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▦</a:t>
            </a:r>
            <a:endParaRPr sz="1100"/>
          </a:p>
        </p:txBody>
      </p:sp>
      <p:sp>
        <p:nvSpPr>
          <p:cNvPr id="95" name="Google Shape;95;p17"/>
          <p:cNvSpPr/>
          <p:nvPr/>
        </p:nvSpPr>
        <p:spPr>
          <a:xfrm>
            <a:off x="442913" y="2271713"/>
            <a:ext cx="528600" cy="528600"/>
          </a:xfrm>
          <a:prstGeom prst="ellipse">
            <a:avLst/>
          </a:prstGeom>
          <a:solidFill>
            <a:srgbClr val="B9F5D8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1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≡</a:t>
            </a:r>
            <a:endParaRPr sz="1100"/>
          </a:p>
        </p:txBody>
      </p:sp>
      <p:sp>
        <p:nvSpPr>
          <p:cNvPr id="96" name="Google Shape;96;p17"/>
          <p:cNvSpPr/>
          <p:nvPr/>
        </p:nvSpPr>
        <p:spPr>
          <a:xfrm>
            <a:off x="442913" y="3057525"/>
            <a:ext cx="528600" cy="5286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人</a:t>
            </a:r>
            <a:endParaRPr sz="1100"/>
          </a:p>
        </p:txBody>
      </p:sp>
      <p:sp>
        <p:nvSpPr>
          <p:cNvPr id="97" name="Google Shape;97;p17"/>
          <p:cNvSpPr/>
          <p:nvPr/>
        </p:nvSpPr>
        <p:spPr>
          <a:xfrm>
            <a:off x="1114425" y="1614488"/>
            <a:ext cx="13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資料結構</a:t>
            </a:r>
            <a:endParaRPr sz="1100"/>
          </a:p>
        </p:txBody>
      </p:sp>
      <p:sp>
        <p:nvSpPr>
          <p:cNvPr id="98" name="Google Shape;98;p17"/>
          <p:cNvSpPr/>
          <p:nvPr/>
        </p:nvSpPr>
        <p:spPr>
          <a:xfrm>
            <a:off x="1114425" y="2400300"/>
            <a:ext cx="13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文件描述</a:t>
            </a:r>
            <a:endParaRPr sz="1100"/>
          </a:p>
        </p:txBody>
      </p:sp>
      <p:sp>
        <p:nvSpPr>
          <p:cNvPr id="99" name="Google Shape;99;p17"/>
          <p:cNvSpPr/>
          <p:nvPr/>
        </p:nvSpPr>
        <p:spPr>
          <a:xfrm>
            <a:off x="1114425" y="3186113"/>
            <a:ext cx="13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使用者補充</a:t>
            </a:r>
            <a:endParaRPr sz="1100"/>
          </a:p>
        </p:txBody>
      </p:sp>
      <p:sp>
        <p:nvSpPr>
          <p:cNvPr id="100" name="Google Shape;100;p17"/>
          <p:cNvSpPr/>
          <p:nvPr/>
        </p:nvSpPr>
        <p:spPr>
          <a:xfrm>
            <a:off x="2814638" y="1414463"/>
            <a:ext cx="3514800" cy="2328900"/>
          </a:xfrm>
          <a:prstGeom prst="roundRect">
            <a:avLst>
              <a:gd fmla="val 6748" name="adj"/>
            </a:avLst>
          </a:prstGeom>
          <a:solidFill>
            <a:srgbClr val="FFFFFF"/>
          </a:solidFill>
          <a:ln cap="flat" cmpd="sng" w="9525">
            <a:solidFill>
              <a:srgbClr val="175CD3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3128963" y="1657350"/>
            <a:ext cx="2886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欄位規則清單</a:t>
            </a:r>
            <a:endParaRPr sz="1100"/>
          </a:p>
        </p:txBody>
      </p:sp>
      <p:sp>
        <p:nvSpPr>
          <p:cNvPr id="102" name="Google Shape;102;p17"/>
          <p:cNvSpPr/>
          <p:nvPr/>
        </p:nvSpPr>
        <p:spPr>
          <a:xfrm>
            <a:off x="3200400" y="2171700"/>
            <a:ext cx="12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是否必填</a:t>
            </a:r>
            <a:endParaRPr sz="1100"/>
          </a:p>
        </p:txBody>
      </p:sp>
      <p:sp>
        <p:nvSpPr>
          <p:cNvPr id="103" name="Google Shape;103;p17"/>
          <p:cNvSpPr/>
          <p:nvPr/>
        </p:nvSpPr>
        <p:spPr>
          <a:xfrm>
            <a:off x="4572000" y="2171700"/>
            <a:ext cx="13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100"/>
          </a:p>
        </p:txBody>
      </p:sp>
      <p:sp>
        <p:nvSpPr>
          <p:cNvPr id="104" name="Google Shape;104;p17"/>
          <p:cNvSpPr/>
          <p:nvPr/>
        </p:nvSpPr>
        <p:spPr>
          <a:xfrm>
            <a:off x="3200400" y="2543175"/>
            <a:ext cx="12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可接受的值</a:t>
            </a:r>
            <a:endParaRPr sz="1100"/>
          </a:p>
        </p:txBody>
      </p:sp>
      <p:sp>
        <p:nvSpPr>
          <p:cNvPr id="105" name="Google Shape;105;p17"/>
          <p:cNvSpPr/>
          <p:nvPr/>
        </p:nvSpPr>
        <p:spPr>
          <a:xfrm>
            <a:off x="4572000" y="2543175"/>
            <a:ext cx="13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/ B / C</a:t>
            </a:r>
            <a:endParaRPr sz="1100"/>
          </a:p>
        </p:txBody>
      </p:sp>
      <p:sp>
        <p:nvSpPr>
          <p:cNvPr id="106" name="Google Shape;106;p17"/>
          <p:cNvSpPr/>
          <p:nvPr/>
        </p:nvSpPr>
        <p:spPr>
          <a:xfrm>
            <a:off x="3200400" y="2914650"/>
            <a:ext cx="12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合理範圍</a:t>
            </a:r>
            <a:endParaRPr sz="1100"/>
          </a:p>
        </p:txBody>
      </p:sp>
      <p:sp>
        <p:nvSpPr>
          <p:cNvPr id="107" name="Google Shape;107;p17"/>
          <p:cNvSpPr/>
          <p:nvPr/>
        </p:nvSpPr>
        <p:spPr>
          <a:xfrm>
            <a:off x="4572000" y="2914650"/>
            <a:ext cx="13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 — 100</a:t>
            </a:r>
            <a:endParaRPr sz="1100"/>
          </a:p>
        </p:txBody>
      </p:sp>
      <p:sp>
        <p:nvSpPr>
          <p:cNvPr id="108" name="Google Shape;108;p17"/>
          <p:cNvSpPr/>
          <p:nvPr/>
        </p:nvSpPr>
        <p:spPr>
          <a:xfrm>
            <a:off x="3200400" y="3286125"/>
            <a:ext cx="12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日期格式</a:t>
            </a:r>
            <a:endParaRPr sz="1100"/>
          </a:p>
        </p:txBody>
      </p:sp>
      <p:sp>
        <p:nvSpPr>
          <p:cNvPr id="109" name="Google Shape;109;p17"/>
          <p:cNvSpPr/>
          <p:nvPr/>
        </p:nvSpPr>
        <p:spPr>
          <a:xfrm>
            <a:off x="4572000" y="3286125"/>
            <a:ext cx="13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YYYY-MM-DD</a:t>
            </a:r>
            <a:endParaRPr sz="1100"/>
          </a:p>
        </p:txBody>
      </p:sp>
      <p:sp>
        <p:nvSpPr>
          <p:cNvPr id="110" name="Google Shape;110;p17"/>
          <p:cNvSpPr/>
          <p:nvPr/>
        </p:nvSpPr>
        <p:spPr>
          <a:xfrm>
            <a:off x="7258050" y="1928813"/>
            <a:ext cx="657300" cy="657300"/>
          </a:xfrm>
          <a:prstGeom prst="ellipse">
            <a:avLst/>
          </a:prstGeom>
          <a:solidFill>
            <a:srgbClr val="175CD3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100"/>
          </a:p>
        </p:txBody>
      </p:sp>
      <p:sp>
        <p:nvSpPr>
          <p:cNvPr id="111" name="Google Shape;111;p17"/>
          <p:cNvSpPr/>
          <p:nvPr/>
        </p:nvSpPr>
        <p:spPr>
          <a:xfrm>
            <a:off x="6872288" y="2800350"/>
            <a:ext cx="1428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每個人看見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同一份規則</a:t>
            </a:r>
            <a:endParaRPr sz="1100"/>
          </a:p>
        </p:txBody>
      </p:sp>
      <p:sp>
        <p:nvSpPr>
          <p:cNvPr id="112" name="Google Shape;112;p17"/>
          <p:cNvSpPr/>
          <p:nvPr/>
        </p:nvSpPr>
        <p:spPr>
          <a:xfrm>
            <a:off x="2214563" y="4157663"/>
            <a:ext cx="4714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資料結構提供事實；業務規則仍由人確認。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3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342900" y="442913"/>
            <a:ext cx="8286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700">
                <a:solidFill>
                  <a:srgbClr val="111827"/>
                </a:solidFill>
              </a:rPr>
              <a:t>Data Validation </a:t>
            </a:r>
            <a:r>
              <a:rPr b="1" lang="zh-TW" sz="27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Agent 核心架構</a:t>
            </a:r>
            <a:endParaRPr sz="1100"/>
          </a:p>
        </p:txBody>
      </p:sp>
      <p:cxnSp>
        <p:nvCxnSpPr>
          <p:cNvPr id="119" name="Google Shape;119;p18"/>
          <p:cNvCxnSpPr/>
          <p:nvPr/>
        </p:nvCxnSpPr>
        <p:spPr>
          <a:xfrm>
            <a:off x="342900" y="978694"/>
            <a:ext cx="8458200" cy="0"/>
          </a:xfrm>
          <a:prstGeom prst="straightConnector1">
            <a:avLst/>
          </a:prstGeom>
          <a:noFill/>
          <a:ln cap="flat" cmpd="sng" w="9525">
            <a:solidFill>
              <a:srgbClr val="CA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18"/>
          <p:cNvSpPr/>
          <p:nvPr/>
        </p:nvSpPr>
        <p:spPr>
          <a:xfrm>
            <a:off x="500063" y="1214438"/>
            <a:ext cx="8143800" cy="3143400"/>
          </a:xfrm>
          <a:prstGeom prst="roundRect">
            <a:avLst>
              <a:gd fmla="val 6364" name="adj"/>
            </a:avLst>
          </a:prstGeom>
          <a:solidFill>
            <a:srgbClr val="FFFFFF"/>
          </a:solidFill>
          <a:ln cap="flat" cmpd="sng" w="9525">
            <a:solidFill>
              <a:srgbClr val="CA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700088" y="1371600"/>
            <a:ext cx="21432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800">
                <a:solidFill>
                  <a:srgbClr val="175CD3"/>
                </a:solidFill>
                <a:latin typeface="Arial"/>
                <a:ea typeface="Arial"/>
                <a:cs typeface="Arial"/>
                <a:sym typeface="Arial"/>
              </a:rPr>
              <a:t>DATA VALIDATION AGENT</a:t>
            </a:r>
            <a:endParaRPr sz="1100"/>
          </a:p>
        </p:txBody>
      </p:sp>
      <p:sp>
        <p:nvSpPr>
          <p:cNvPr id="122" name="Google Shape;122;p18"/>
          <p:cNvSpPr/>
          <p:nvPr/>
        </p:nvSpPr>
        <p:spPr>
          <a:xfrm>
            <a:off x="842963" y="1971675"/>
            <a:ext cx="1014300" cy="1014300"/>
          </a:xfrm>
          <a:prstGeom prst="ellipse">
            <a:avLst/>
          </a:prstGeom>
          <a:solidFill>
            <a:srgbClr val="172A46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sz="1100"/>
          </a:p>
        </p:txBody>
      </p:sp>
      <p:sp>
        <p:nvSpPr>
          <p:cNvPr id="123" name="Google Shape;123;p18"/>
          <p:cNvSpPr/>
          <p:nvPr/>
        </p:nvSpPr>
        <p:spPr>
          <a:xfrm>
            <a:off x="657225" y="3186113"/>
            <a:ext cx="1386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理解對話與資料脈絡</a:t>
            </a:r>
            <a:endParaRPr sz="1100"/>
          </a:p>
        </p:txBody>
      </p:sp>
      <p:sp>
        <p:nvSpPr>
          <p:cNvPr id="124" name="Google Shape;124;p18"/>
          <p:cNvSpPr/>
          <p:nvPr/>
        </p:nvSpPr>
        <p:spPr>
          <a:xfrm>
            <a:off x="2043113" y="2357438"/>
            <a:ext cx="614400" cy="314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75CD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2657475" y="1614488"/>
            <a:ext cx="2143200" cy="1986000"/>
          </a:xfrm>
          <a:prstGeom prst="roundRect">
            <a:avLst>
              <a:gd fmla="val 7914" name="adj"/>
            </a:avLst>
          </a:prstGeom>
          <a:solidFill>
            <a:srgbClr val="DCE9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2857500" y="1800225"/>
            <a:ext cx="17430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SYSTEM_PROMPT</a:t>
            </a:r>
            <a:endParaRPr sz="1100"/>
          </a:p>
        </p:txBody>
      </p:sp>
      <p:sp>
        <p:nvSpPr>
          <p:cNvPr id="127" name="Google Shape;127;p18"/>
          <p:cNvSpPr/>
          <p:nvPr/>
        </p:nvSpPr>
        <p:spPr>
          <a:xfrm>
            <a:off x="2957513" y="2257425"/>
            <a:ext cx="1543200" cy="10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11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控制 Workflow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11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決定先後順序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11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遇到錯誤就停止</a:t>
            </a:r>
            <a:endParaRPr sz="1100"/>
          </a:p>
        </p:txBody>
      </p:sp>
      <p:sp>
        <p:nvSpPr>
          <p:cNvPr id="128" name="Google Shape;128;p18"/>
          <p:cNvSpPr/>
          <p:nvPr/>
        </p:nvSpPr>
        <p:spPr>
          <a:xfrm>
            <a:off x="4814888" y="2357438"/>
            <a:ext cx="500100" cy="314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75CD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5314950" y="1443038"/>
            <a:ext cx="2957400" cy="2328900"/>
          </a:xfrm>
          <a:prstGeom prst="roundRect">
            <a:avLst>
              <a:gd fmla="val 6748" name="adj"/>
            </a:avLst>
          </a:prstGeom>
          <a:solidFill>
            <a:srgbClr val="E7FAF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5557838" y="1628775"/>
            <a:ext cx="24717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每一步載入對應 Skill</a:t>
            </a:r>
            <a:endParaRPr sz="1100"/>
          </a:p>
        </p:txBody>
      </p:sp>
      <p:sp>
        <p:nvSpPr>
          <p:cNvPr id="131" name="Google Shape;131;p18"/>
          <p:cNvSpPr/>
          <p:nvPr/>
        </p:nvSpPr>
        <p:spPr>
          <a:xfrm>
            <a:off x="5643563" y="2043113"/>
            <a:ext cx="2300400" cy="285900"/>
          </a:xfrm>
          <a:prstGeom prst="roundRect">
            <a:avLst>
              <a:gd fmla="val 35000" name="adj"/>
            </a:avLst>
          </a:prstGeom>
          <a:solidFill>
            <a:srgbClr val="FFFFFF"/>
          </a:solidFill>
          <a:ln cap="flat" cmpd="sng" w="9525">
            <a:solidFill>
              <a:srgbClr val="CA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5786438" y="2100263"/>
            <a:ext cx="2014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0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① 讀懂資料</a:t>
            </a:r>
            <a:endParaRPr sz="1100"/>
          </a:p>
        </p:txBody>
      </p:sp>
      <p:sp>
        <p:nvSpPr>
          <p:cNvPr id="133" name="Google Shape;133;p18"/>
          <p:cNvSpPr/>
          <p:nvPr/>
        </p:nvSpPr>
        <p:spPr>
          <a:xfrm>
            <a:off x="5643563" y="2428875"/>
            <a:ext cx="2300400" cy="285900"/>
          </a:xfrm>
          <a:prstGeom prst="roundRect">
            <a:avLst>
              <a:gd fmla="val 35000" name="adj"/>
            </a:avLst>
          </a:prstGeom>
          <a:solidFill>
            <a:srgbClr val="FFFFFF"/>
          </a:solidFill>
          <a:ln cap="flat" cmpd="sng" w="9525">
            <a:solidFill>
              <a:srgbClr val="CA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5786438" y="2486025"/>
            <a:ext cx="2014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0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② 定義規則</a:t>
            </a:r>
            <a:endParaRPr sz="1100"/>
          </a:p>
        </p:txBody>
      </p:sp>
      <p:sp>
        <p:nvSpPr>
          <p:cNvPr id="135" name="Google Shape;135;p18"/>
          <p:cNvSpPr/>
          <p:nvPr/>
        </p:nvSpPr>
        <p:spPr>
          <a:xfrm>
            <a:off x="5643563" y="2814638"/>
            <a:ext cx="2300400" cy="285900"/>
          </a:xfrm>
          <a:prstGeom prst="roundRect">
            <a:avLst>
              <a:gd fmla="val 35000" name="adj"/>
            </a:avLst>
          </a:prstGeom>
          <a:solidFill>
            <a:srgbClr val="FFF1C7"/>
          </a:solidFill>
          <a:ln cap="flat" cmpd="sng" w="9525">
            <a:solidFill>
              <a:srgbClr val="CA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5786438" y="2871788"/>
            <a:ext cx="2014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0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③ 取得確認</a:t>
            </a:r>
            <a:endParaRPr sz="1100"/>
          </a:p>
        </p:txBody>
      </p:sp>
      <p:sp>
        <p:nvSpPr>
          <p:cNvPr id="137" name="Google Shape;137;p18"/>
          <p:cNvSpPr/>
          <p:nvPr/>
        </p:nvSpPr>
        <p:spPr>
          <a:xfrm>
            <a:off x="5643563" y="3200400"/>
            <a:ext cx="2300400" cy="285900"/>
          </a:xfrm>
          <a:prstGeom prst="roundRect">
            <a:avLst>
              <a:gd fmla="val 35000" name="adj"/>
            </a:avLst>
          </a:prstGeom>
          <a:solidFill>
            <a:srgbClr val="FFFFFF"/>
          </a:solidFill>
          <a:ln cap="flat" cmpd="sng" w="9525">
            <a:solidFill>
              <a:srgbClr val="CA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5786438" y="3257550"/>
            <a:ext cx="2014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0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④ 交付成果</a:t>
            </a:r>
            <a:endParaRPr sz="1100"/>
          </a:p>
        </p:txBody>
      </p:sp>
      <p:sp>
        <p:nvSpPr>
          <p:cNvPr id="139" name="Google Shape;139;p18"/>
          <p:cNvSpPr/>
          <p:nvPr/>
        </p:nvSpPr>
        <p:spPr>
          <a:xfrm>
            <a:off x="1528763" y="3986213"/>
            <a:ext cx="60864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175CD3"/>
                </a:solidFill>
                <a:latin typeface="Arial"/>
                <a:ea typeface="Arial"/>
                <a:cs typeface="Arial"/>
                <a:sym typeface="Arial"/>
              </a:rPr>
              <a:t>LLM 負責理解與推理；SYSTEM_PROMPT 管流程；Skills 提供每一步的專業做法。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3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/>
          <p:nvPr/>
        </p:nvSpPr>
        <p:spPr>
          <a:xfrm>
            <a:off x="342900" y="442913"/>
            <a:ext cx="8286750" cy="500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7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四階段</a:t>
            </a:r>
            <a:r>
              <a:rPr b="1" lang="zh-TW" sz="2700">
                <a:solidFill>
                  <a:srgbClr val="111827"/>
                </a:solidFill>
              </a:rPr>
              <a:t> Workflow，對應不同 Skill</a:t>
            </a:r>
            <a:endParaRPr sz="1100"/>
          </a:p>
        </p:txBody>
      </p:sp>
      <p:cxnSp>
        <p:nvCxnSpPr>
          <p:cNvPr id="146" name="Google Shape;146;p19"/>
          <p:cNvCxnSpPr/>
          <p:nvPr/>
        </p:nvCxnSpPr>
        <p:spPr>
          <a:xfrm>
            <a:off x="342900" y="978694"/>
            <a:ext cx="8458200" cy="0"/>
          </a:xfrm>
          <a:prstGeom prst="straightConnector1">
            <a:avLst/>
          </a:prstGeom>
          <a:noFill/>
          <a:ln cap="flat" cmpd="sng" w="9525">
            <a:solidFill>
              <a:srgbClr val="CA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19"/>
          <p:cNvSpPr/>
          <p:nvPr/>
        </p:nvSpPr>
        <p:spPr>
          <a:xfrm>
            <a:off x="2143125" y="2143125"/>
            <a:ext cx="414338" cy="27146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75CD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4279106" y="2128838"/>
            <a:ext cx="414300" cy="271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2D2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6586538" y="2078800"/>
            <a:ext cx="414300" cy="271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75CD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9"/>
          <p:cNvSpPr/>
          <p:nvPr/>
        </p:nvSpPr>
        <p:spPr>
          <a:xfrm>
            <a:off x="342900" y="1357313"/>
            <a:ext cx="1814513" cy="600075"/>
          </a:xfrm>
          <a:prstGeom prst="roundRect">
            <a:avLst>
              <a:gd fmla="val 21429" name="adj"/>
            </a:avLst>
          </a:prstGeom>
          <a:solidFill>
            <a:srgbClr val="DCE9FF"/>
          </a:solidFill>
          <a:ln>
            <a:noFill/>
          </a:ln>
        </p:spPr>
        <p:txBody>
          <a:bodyPr anchorCtr="0" anchor="ctr" bIns="71450" lIns="100025" spcFirstLastPara="1" rIns="100025" wrap="square" tIns="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="1" lang="zh-TW" sz="1200">
                <a:solidFill>
                  <a:srgbClr val="172A46"/>
                </a:solidFill>
              </a:rPr>
              <a:t>讀懂資料</a:t>
            </a:r>
            <a:endParaRPr sz="1100"/>
          </a:p>
        </p:txBody>
      </p:sp>
      <p:sp>
        <p:nvSpPr>
          <p:cNvPr id="151" name="Google Shape;151;p19"/>
          <p:cNvSpPr/>
          <p:nvPr/>
        </p:nvSpPr>
        <p:spPr>
          <a:xfrm>
            <a:off x="442913" y="2571750"/>
            <a:ext cx="1614488" cy="71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11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辨識 Dataset URN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11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取得 DataHub Schema</a:t>
            </a:r>
            <a:endParaRPr sz="1100"/>
          </a:p>
        </p:txBody>
      </p:sp>
      <p:sp>
        <p:nvSpPr>
          <p:cNvPr id="152" name="Google Shape;152;p19"/>
          <p:cNvSpPr/>
          <p:nvPr/>
        </p:nvSpPr>
        <p:spPr>
          <a:xfrm>
            <a:off x="2557463" y="1357313"/>
            <a:ext cx="1814513" cy="600075"/>
          </a:xfrm>
          <a:prstGeom prst="roundRect">
            <a:avLst>
              <a:gd fmla="val 21429" name="adj"/>
            </a:avLst>
          </a:prstGeom>
          <a:solidFill>
            <a:srgbClr val="E7FAF0"/>
          </a:solidFill>
          <a:ln>
            <a:noFill/>
          </a:ln>
        </p:spPr>
        <p:txBody>
          <a:bodyPr anchorCtr="0" anchor="ctr" bIns="71450" lIns="100025" spcFirstLastPara="1" rIns="100025" wrap="square" tIns="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="1" lang="zh-TW" sz="1200">
                <a:solidFill>
                  <a:srgbClr val="172A46"/>
                </a:solidFill>
              </a:rPr>
              <a:t>定義規則</a:t>
            </a:r>
            <a:endParaRPr sz="1100"/>
          </a:p>
        </p:txBody>
      </p:sp>
      <p:sp>
        <p:nvSpPr>
          <p:cNvPr id="153" name="Google Shape;153;p19"/>
          <p:cNvSpPr/>
          <p:nvPr/>
        </p:nvSpPr>
        <p:spPr>
          <a:xfrm>
            <a:off x="2657475" y="2571750"/>
            <a:ext cx="1614488" cy="71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11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載入權威 Contract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11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草擬並釐清欄位規則</a:t>
            </a:r>
            <a:endParaRPr sz="1100"/>
          </a:p>
        </p:txBody>
      </p:sp>
      <p:sp>
        <p:nvSpPr>
          <p:cNvPr id="154" name="Google Shape;154;p19"/>
          <p:cNvSpPr/>
          <p:nvPr/>
        </p:nvSpPr>
        <p:spPr>
          <a:xfrm>
            <a:off x="4772025" y="1357313"/>
            <a:ext cx="1814513" cy="600075"/>
          </a:xfrm>
          <a:prstGeom prst="roundRect">
            <a:avLst>
              <a:gd fmla="val 21429" name="adj"/>
            </a:avLst>
          </a:prstGeom>
          <a:solidFill>
            <a:srgbClr val="FFF1C7"/>
          </a:solidFill>
          <a:ln>
            <a:noFill/>
          </a:ln>
        </p:spPr>
        <p:txBody>
          <a:bodyPr anchorCtr="0" anchor="ctr" bIns="71450" lIns="100025" spcFirstLastPara="1" rIns="100025" wrap="square" tIns="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3  </a:t>
            </a:r>
            <a:r>
              <a:rPr b="1" lang="zh-TW" sz="1200">
                <a:solidFill>
                  <a:srgbClr val="172A46"/>
                </a:solidFill>
              </a:rPr>
              <a:t>取得確認</a:t>
            </a:r>
            <a:endParaRPr sz="1100"/>
          </a:p>
        </p:txBody>
      </p:sp>
      <p:sp>
        <p:nvSpPr>
          <p:cNvPr id="155" name="Google Shape;155;p19"/>
          <p:cNvSpPr/>
          <p:nvPr/>
        </p:nvSpPr>
        <p:spPr>
          <a:xfrm>
            <a:off x="4872038" y="2571750"/>
            <a:ext cx="1614488" cy="71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11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完整表格 Review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11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確認 exact spec version</a:t>
            </a:r>
            <a:endParaRPr sz="1100"/>
          </a:p>
        </p:txBody>
      </p:sp>
      <p:sp>
        <p:nvSpPr>
          <p:cNvPr id="156" name="Google Shape;156;p19"/>
          <p:cNvSpPr/>
          <p:nvPr/>
        </p:nvSpPr>
        <p:spPr>
          <a:xfrm>
            <a:off x="6986588" y="1357313"/>
            <a:ext cx="1814513" cy="600075"/>
          </a:xfrm>
          <a:prstGeom prst="roundRect">
            <a:avLst>
              <a:gd fmla="val 21429" name="adj"/>
            </a:avLst>
          </a:prstGeom>
          <a:solidFill>
            <a:srgbClr val="DCE9FF"/>
          </a:solidFill>
          <a:ln>
            <a:noFill/>
          </a:ln>
        </p:spPr>
        <p:txBody>
          <a:bodyPr anchorCtr="0" anchor="ctr" bIns="71450" lIns="100025" spcFirstLastPara="1" rIns="100025" wrap="square" tIns="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4  </a:t>
            </a:r>
            <a:r>
              <a:rPr b="1" lang="zh-TW" sz="1200">
                <a:solidFill>
                  <a:srgbClr val="172A46"/>
                </a:solidFill>
              </a:rPr>
              <a:t>交付成果</a:t>
            </a:r>
            <a:endParaRPr sz="1100"/>
          </a:p>
        </p:txBody>
      </p:sp>
      <p:sp>
        <p:nvSpPr>
          <p:cNvPr id="157" name="Google Shape;157;p19"/>
          <p:cNvSpPr/>
          <p:nvPr/>
        </p:nvSpPr>
        <p:spPr>
          <a:xfrm>
            <a:off x="7086600" y="2571750"/>
            <a:ext cx="1614488" cy="71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11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產生</a:t>
            </a:r>
            <a:r>
              <a:rPr lang="zh-TW" sz="1100">
                <a:solidFill>
                  <a:srgbClr val="111827"/>
                </a:solidFill>
              </a:rPr>
              <a:t> Validation</a:t>
            </a:r>
            <a:r>
              <a:rPr b="0" lang="zh-TW" sz="11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Suite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rgbClr val="111827"/>
                </a:solidFill>
              </a:rPr>
              <a:t>產生</a:t>
            </a:r>
            <a:r>
              <a:rPr b="0" lang="zh-TW" sz="11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Mock </a:t>
            </a:r>
            <a:r>
              <a:rPr lang="zh-TW" sz="1100">
                <a:solidFill>
                  <a:srgbClr val="111827"/>
                </a:solidFill>
              </a:rPr>
              <a:t>Data</a:t>
            </a:r>
            <a:endParaRPr sz="1100"/>
          </a:p>
        </p:txBody>
      </p:sp>
      <p:sp>
        <p:nvSpPr>
          <p:cNvPr id="158" name="Google Shape;158;p19"/>
          <p:cNvSpPr/>
          <p:nvPr/>
        </p:nvSpPr>
        <p:spPr>
          <a:xfrm>
            <a:off x="4429125" y="3486150"/>
            <a:ext cx="2514600" cy="514350"/>
          </a:xfrm>
          <a:prstGeom prst="roundRect">
            <a:avLst>
              <a:gd fmla="val 19444" name="adj"/>
            </a:avLst>
          </a:prstGeom>
          <a:solidFill>
            <a:srgbClr val="FEE4E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4572000" y="3621881"/>
            <a:ext cx="22288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800">
                <a:solidFill>
                  <a:srgbClr val="D92D20"/>
                </a:solidFill>
                <a:latin typeface="Arial"/>
                <a:ea typeface="Arial"/>
                <a:cs typeface="Arial"/>
                <a:sym typeface="Arial"/>
              </a:rPr>
              <a:t>任何規則一旦修改 → 原確認立即失效 → 回到 Phase 2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/>
          <p:nvPr/>
        </p:nvSpPr>
        <p:spPr>
          <a:xfrm>
            <a:off x="342900" y="442913"/>
            <a:ext cx="8286750" cy="500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7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四個 MCP Tools </a:t>
            </a:r>
            <a:endParaRPr sz="1100"/>
          </a:p>
        </p:txBody>
      </p:sp>
      <p:cxnSp>
        <p:nvCxnSpPr>
          <p:cNvPr id="166" name="Google Shape;166;p20"/>
          <p:cNvCxnSpPr/>
          <p:nvPr/>
        </p:nvCxnSpPr>
        <p:spPr>
          <a:xfrm>
            <a:off x="342900" y="978694"/>
            <a:ext cx="8458200" cy="0"/>
          </a:xfrm>
          <a:prstGeom prst="straightConnector1">
            <a:avLst/>
          </a:prstGeom>
          <a:noFill/>
          <a:ln cap="flat" cmpd="sng" w="9525">
            <a:solidFill>
              <a:srgbClr val="CA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20"/>
          <p:cNvSpPr/>
          <p:nvPr/>
        </p:nvSpPr>
        <p:spPr>
          <a:xfrm>
            <a:off x="2157413" y="1514475"/>
            <a:ext cx="385763" cy="20002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75CD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5629275" y="1514475"/>
            <a:ext cx="385763" cy="20002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75CD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342900" y="1357313"/>
            <a:ext cx="1814513" cy="51435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71450" lIns="100025" spcFirstLastPara="1" rIns="100025" wrap="square" tIns="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0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Dataset URN</a:t>
            </a:r>
            <a:endParaRPr sz="1100"/>
          </a:p>
        </p:txBody>
      </p:sp>
      <p:sp>
        <p:nvSpPr>
          <p:cNvPr id="170" name="Google Shape;170;p20"/>
          <p:cNvSpPr/>
          <p:nvPr/>
        </p:nvSpPr>
        <p:spPr>
          <a:xfrm>
            <a:off x="2543175" y="1357313"/>
            <a:ext cx="3086100" cy="514350"/>
          </a:xfrm>
          <a:prstGeom prst="roundRect">
            <a:avLst>
              <a:gd fmla="val 25000" name="adj"/>
            </a:avLst>
          </a:prstGeom>
          <a:solidFill>
            <a:srgbClr val="DCE9FF"/>
          </a:solidFill>
          <a:ln>
            <a:noFill/>
          </a:ln>
        </p:spPr>
        <p:txBody>
          <a:bodyPr anchorCtr="0" anchor="ctr" bIns="71450" lIns="100025" spcFirstLastPara="1" rIns="100025" wrap="square" tIns="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get_table_schema</a:t>
            </a:r>
            <a:endParaRPr sz="1100"/>
          </a:p>
        </p:txBody>
      </p:sp>
      <p:sp>
        <p:nvSpPr>
          <p:cNvPr id="171" name="Google Shape;171;p20"/>
          <p:cNvSpPr/>
          <p:nvPr/>
        </p:nvSpPr>
        <p:spPr>
          <a:xfrm>
            <a:off x="6015038" y="1357313"/>
            <a:ext cx="2786063" cy="51435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71450" lIns="100025" spcFirstLastPara="1" rIns="100025" wrap="square" tIns="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0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DataHub Schema JSON</a:t>
            </a:r>
            <a:endParaRPr sz="1100"/>
          </a:p>
        </p:txBody>
      </p:sp>
      <p:sp>
        <p:nvSpPr>
          <p:cNvPr id="172" name="Google Shape;172;p20"/>
          <p:cNvSpPr/>
          <p:nvPr/>
        </p:nvSpPr>
        <p:spPr>
          <a:xfrm>
            <a:off x="2157413" y="2243138"/>
            <a:ext cx="385763" cy="20002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75CD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5629275" y="2243138"/>
            <a:ext cx="385763" cy="20002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75CD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0"/>
          <p:cNvSpPr/>
          <p:nvPr/>
        </p:nvSpPr>
        <p:spPr>
          <a:xfrm>
            <a:off x="342900" y="2085975"/>
            <a:ext cx="1814513" cy="51435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71450" lIns="100025" spcFirstLastPara="1" rIns="100025" wrap="square" tIns="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0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1100"/>
          </a:p>
        </p:txBody>
      </p:sp>
      <p:sp>
        <p:nvSpPr>
          <p:cNvPr id="175" name="Google Shape;175;p20"/>
          <p:cNvSpPr/>
          <p:nvPr/>
        </p:nvSpPr>
        <p:spPr>
          <a:xfrm>
            <a:off x="2543175" y="2085975"/>
            <a:ext cx="3086100" cy="514350"/>
          </a:xfrm>
          <a:prstGeom prst="roundRect">
            <a:avLst>
              <a:gd fmla="val 25000" name="adj"/>
            </a:avLst>
          </a:prstGeom>
          <a:solidFill>
            <a:srgbClr val="DCE9FF"/>
          </a:solidFill>
          <a:ln>
            <a:noFill/>
          </a:ln>
        </p:spPr>
        <p:txBody>
          <a:bodyPr anchorCtr="0" anchor="ctr" bIns="71450" lIns="100025" spcFirstLastPara="1" rIns="100025" wrap="square" tIns="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get_field_spec</a:t>
            </a:r>
            <a:endParaRPr sz="1100"/>
          </a:p>
        </p:txBody>
      </p:sp>
      <p:sp>
        <p:nvSpPr>
          <p:cNvPr id="176" name="Google Shape;176;p20"/>
          <p:cNvSpPr/>
          <p:nvPr/>
        </p:nvSpPr>
        <p:spPr>
          <a:xfrm>
            <a:off x="6015038" y="2085975"/>
            <a:ext cx="2786063" cy="51435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71450" lIns="100025" spcFirstLastPara="1" rIns="100025" wrap="square" tIns="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0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權威 JSON Schema</a:t>
            </a:r>
            <a:endParaRPr sz="1100"/>
          </a:p>
        </p:txBody>
      </p:sp>
      <p:sp>
        <p:nvSpPr>
          <p:cNvPr id="177" name="Google Shape;177;p20"/>
          <p:cNvSpPr/>
          <p:nvPr/>
        </p:nvSpPr>
        <p:spPr>
          <a:xfrm>
            <a:off x="2157413" y="2971800"/>
            <a:ext cx="385763" cy="20002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9F5D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5629275" y="2971800"/>
            <a:ext cx="385763" cy="20002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9F5D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342900" y="2814638"/>
            <a:ext cx="1814513" cy="51435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71450" lIns="100025" spcFirstLastPara="1" rIns="100025" wrap="square" tIns="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0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Confirmed field_spec</a:t>
            </a:r>
            <a:endParaRPr sz="1100"/>
          </a:p>
        </p:txBody>
      </p:sp>
      <p:sp>
        <p:nvSpPr>
          <p:cNvPr id="180" name="Google Shape;180;p20"/>
          <p:cNvSpPr/>
          <p:nvPr/>
        </p:nvSpPr>
        <p:spPr>
          <a:xfrm>
            <a:off x="2543175" y="2814638"/>
            <a:ext cx="3086100" cy="514350"/>
          </a:xfrm>
          <a:prstGeom prst="roundRect">
            <a:avLst>
              <a:gd fmla="val 25000" name="adj"/>
            </a:avLst>
          </a:prstGeom>
          <a:solidFill>
            <a:srgbClr val="E7FAF0"/>
          </a:solidFill>
          <a:ln>
            <a:noFill/>
          </a:ln>
        </p:spPr>
        <p:txBody>
          <a:bodyPr anchorCtr="0" anchor="ctr" bIns="71450" lIns="100025" spcFirstLastPara="1" rIns="100025" wrap="square" tIns="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gen_validation_suite</a:t>
            </a:r>
            <a:endParaRPr sz="1100"/>
          </a:p>
        </p:txBody>
      </p:sp>
      <p:sp>
        <p:nvSpPr>
          <p:cNvPr id="181" name="Google Shape;181;p20"/>
          <p:cNvSpPr/>
          <p:nvPr/>
        </p:nvSpPr>
        <p:spPr>
          <a:xfrm>
            <a:off x="6015038" y="2814638"/>
            <a:ext cx="2786063" cy="51435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71450" lIns="100025" spcFirstLastPara="1" rIns="100025" wrap="square" tIns="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0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GE Suite JSON</a:t>
            </a:r>
            <a:endParaRPr sz="1100"/>
          </a:p>
        </p:txBody>
      </p:sp>
      <p:sp>
        <p:nvSpPr>
          <p:cNvPr id="182" name="Google Shape;182;p20"/>
          <p:cNvSpPr/>
          <p:nvPr/>
        </p:nvSpPr>
        <p:spPr>
          <a:xfrm>
            <a:off x="2157413" y="3700463"/>
            <a:ext cx="385763" cy="20002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9F5D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5629275" y="3700463"/>
            <a:ext cx="385763" cy="20002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9F5D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342900" y="3543300"/>
            <a:ext cx="1814513" cy="51435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71450" lIns="100025" spcFirstLastPara="1" rIns="100025" wrap="square" tIns="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0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Confirmed field_spec</a:t>
            </a:r>
            <a:endParaRPr sz="1100"/>
          </a:p>
        </p:txBody>
      </p:sp>
      <p:sp>
        <p:nvSpPr>
          <p:cNvPr id="185" name="Google Shape;185;p20"/>
          <p:cNvSpPr/>
          <p:nvPr/>
        </p:nvSpPr>
        <p:spPr>
          <a:xfrm>
            <a:off x="2543175" y="3543300"/>
            <a:ext cx="3086100" cy="514350"/>
          </a:xfrm>
          <a:prstGeom prst="roundRect">
            <a:avLst>
              <a:gd fmla="val 25000" name="adj"/>
            </a:avLst>
          </a:prstGeom>
          <a:solidFill>
            <a:srgbClr val="E7FAF0"/>
          </a:solidFill>
          <a:ln>
            <a:noFill/>
          </a:ln>
        </p:spPr>
        <p:txBody>
          <a:bodyPr anchorCtr="0" anchor="ctr" bIns="71450" lIns="100025" spcFirstLastPara="1" rIns="100025" wrap="square" tIns="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gen_mock_data</a:t>
            </a:r>
            <a:endParaRPr sz="1100"/>
          </a:p>
        </p:txBody>
      </p:sp>
      <p:sp>
        <p:nvSpPr>
          <p:cNvPr id="186" name="Google Shape;186;p20"/>
          <p:cNvSpPr/>
          <p:nvPr/>
        </p:nvSpPr>
        <p:spPr>
          <a:xfrm>
            <a:off x="6015038" y="3543300"/>
            <a:ext cx="2786063" cy="51435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71450" lIns="100025" spcFirstLastPara="1" rIns="100025" wrap="square" tIns="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0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CSV </a:t>
            </a:r>
            <a:r>
              <a:rPr b="1" lang="zh-TW" sz="1000">
                <a:solidFill>
                  <a:srgbClr val="172A46"/>
                </a:solidFill>
              </a:rPr>
              <a:t>File</a:t>
            </a:r>
            <a:endParaRPr sz="1100"/>
          </a:p>
        </p:txBody>
      </p:sp>
      <p:sp>
        <p:nvSpPr>
          <p:cNvPr id="187" name="Google Shape;187;p20"/>
          <p:cNvSpPr/>
          <p:nvPr/>
        </p:nvSpPr>
        <p:spPr>
          <a:xfrm>
            <a:off x="342900" y="1100138"/>
            <a:ext cx="1814513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80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輸入</a:t>
            </a:r>
            <a:endParaRPr sz="1100"/>
          </a:p>
        </p:txBody>
      </p:sp>
      <p:sp>
        <p:nvSpPr>
          <p:cNvPr id="188" name="Google Shape;188;p20"/>
          <p:cNvSpPr/>
          <p:nvPr/>
        </p:nvSpPr>
        <p:spPr>
          <a:xfrm>
            <a:off x="2543175" y="1100138"/>
            <a:ext cx="3086100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80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Stateless Tool</a:t>
            </a:r>
            <a:endParaRPr sz="1100"/>
          </a:p>
        </p:txBody>
      </p:sp>
      <p:sp>
        <p:nvSpPr>
          <p:cNvPr id="189" name="Google Shape;189;p20"/>
          <p:cNvSpPr/>
          <p:nvPr/>
        </p:nvSpPr>
        <p:spPr>
          <a:xfrm>
            <a:off x="6015038" y="1100138"/>
            <a:ext cx="2786063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80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回傳內容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3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/>
          <p:nvPr/>
        </p:nvSpPr>
        <p:spPr>
          <a:xfrm>
            <a:off x="342900" y="442913"/>
            <a:ext cx="8286750" cy="500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7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Phase 1 先鎖定 Dataset，再談表格專屬規則</a:t>
            </a:r>
            <a:endParaRPr sz="1100"/>
          </a:p>
        </p:txBody>
      </p:sp>
      <p:cxnSp>
        <p:nvCxnSpPr>
          <p:cNvPr id="196" name="Google Shape;196;p21"/>
          <p:cNvCxnSpPr/>
          <p:nvPr/>
        </p:nvCxnSpPr>
        <p:spPr>
          <a:xfrm>
            <a:off x="342900" y="978694"/>
            <a:ext cx="8458200" cy="0"/>
          </a:xfrm>
          <a:prstGeom prst="straightConnector1">
            <a:avLst/>
          </a:prstGeom>
          <a:noFill/>
          <a:ln cap="flat" cmpd="sng" w="9525">
            <a:solidFill>
              <a:srgbClr val="CA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21"/>
          <p:cNvSpPr/>
          <p:nvPr/>
        </p:nvSpPr>
        <p:spPr>
          <a:xfrm>
            <a:off x="2014538" y="2057400"/>
            <a:ext cx="457200" cy="30003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75CD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4257675" y="2057400"/>
            <a:ext cx="457200" cy="30003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75CD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6500813" y="2057400"/>
            <a:ext cx="457200" cy="30003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75CD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342900" y="1557338"/>
            <a:ext cx="1671638" cy="1285875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71450" lIns="100025" spcFirstLastPara="1" rIns="100025" wrap="square" tIns="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Dataset URN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不可猜測</a:t>
            </a:r>
            <a:endParaRPr sz="1100"/>
          </a:p>
        </p:txBody>
      </p:sp>
      <p:sp>
        <p:nvSpPr>
          <p:cNvPr id="201" name="Google Shape;201;p21"/>
          <p:cNvSpPr/>
          <p:nvPr/>
        </p:nvSpPr>
        <p:spPr>
          <a:xfrm>
            <a:off x="2471738" y="1700213"/>
            <a:ext cx="1785938" cy="1000125"/>
          </a:xfrm>
          <a:prstGeom prst="roundRect">
            <a:avLst>
              <a:gd fmla="val 12857" name="adj"/>
            </a:avLst>
          </a:prstGeom>
          <a:solidFill>
            <a:srgbClr val="175CD3"/>
          </a:solidFill>
          <a:ln>
            <a:noFill/>
          </a:ln>
        </p:spPr>
        <p:txBody>
          <a:bodyPr anchorCtr="0" anchor="ctr" bIns="71450" lIns="100025" spcFirstLastPara="1" rIns="100025" wrap="square" tIns="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get_table_schema</a:t>
            </a:r>
            <a:endParaRPr sz="1100"/>
          </a:p>
        </p:txBody>
      </p:sp>
      <p:sp>
        <p:nvSpPr>
          <p:cNvPr id="202" name="Google Shape;202;p21"/>
          <p:cNvSpPr/>
          <p:nvPr/>
        </p:nvSpPr>
        <p:spPr>
          <a:xfrm>
            <a:off x="4714875" y="1557338"/>
            <a:ext cx="1785938" cy="1285875"/>
          </a:xfrm>
          <a:prstGeom prst="roundRect">
            <a:avLst>
              <a:gd fmla="val 10000" name="adj"/>
            </a:avLst>
          </a:prstGeom>
          <a:solidFill>
            <a:srgbClr val="DCE9FF"/>
          </a:solidFill>
          <a:ln>
            <a:noFill/>
          </a:ln>
        </p:spPr>
        <p:txBody>
          <a:bodyPr anchorCtr="0" anchor="ctr" bIns="71450" lIns="100025" spcFirstLastPara="1" rIns="100025" wrap="square" tIns="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DataHub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GraphQL API</a:t>
            </a:r>
            <a:endParaRPr sz="1100"/>
          </a:p>
        </p:txBody>
      </p:sp>
      <p:sp>
        <p:nvSpPr>
          <p:cNvPr id="203" name="Google Shape;203;p21"/>
          <p:cNvSpPr/>
          <p:nvPr/>
        </p:nvSpPr>
        <p:spPr>
          <a:xfrm>
            <a:off x="6958013" y="1485900"/>
            <a:ext cx="1843088" cy="1428750"/>
          </a:xfrm>
          <a:prstGeom prst="roundRect">
            <a:avLst>
              <a:gd fmla="val 9000" name="adj"/>
            </a:avLst>
          </a:prstGeom>
          <a:solidFill>
            <a:srgbClr val="E7FAF0"/>
          </a:solidFill>
          <a:ln>
            <a:noFill/>
          </a:ln>
        </p:spPr>
        <p:txBody>
          <a:bodyPr anchorCtr="0" anchor="ctr" bIns="71450" lIns="100025" spcFirstLastPara="1" rIns="100025" wrap="square" tIns="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Schema Metadata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欄名・原生型別・描述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Nullable・Key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3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/>
          <p:nvPr/>
        </p:nvSpPr>
        <p:spPr>
          <a:xfrm>
            <a:off x="342900" y="442913"/>
            <a:ext cx="8286750" cy="500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7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Phase 2 用 field_spec 統一所有欄位驗證語意</a:t>
            </a:r>
            <a:endParaRPr sz="1100"/>
          </a:p>
        </p:txBody>
      </p:sp>
      <p:cxnSp>
        <p:nvCxnSpPr>
          <p:cNvPr id="210" name="Google Shape;210;p22"/>
          <p:cNvCxnSpPr/>
          <p:nvPr/>
        </p:nvCxnSpPr>
        <p:spPr>
          <a:xfrm>
            <a:off x="342900" y="978694"/>
            <a:ext cx="8458200" cy="0"/>
          </a:xfrm>
          <a:prstGeom prst="straightConnector1">
            <a:avLst/>
          </a:prstGeom>
          <a:noFill/>
          <a:ln cap="flat" cmpd="sng" w="9525">
            <a:solidFill>
              <a:srgbClr val="CA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22"/>
          <p:cNvSpPr/>
          <p:nvPr/>
        </p:nvSpPr>
        <p:spPr>
          <a:xfrm>
            <a:off x="2157413" y="1678781"/>
            <a:ext cx="571500" cy="24288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AD0D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2157413" y="2543175"/>
            <a:ext cx="571500" cy="24288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AD0D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6415088" y="1678781"/>
            <a:ext cx="571500" cy="24288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AD0D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6415088" y="2543175"/>
            <a:ext cx="571500" cy="24288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AD0D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2"/>
          <p:cNvSpPr/>
          <p:nvPr/>
        </p:nvSpPr>
        <p:spPr>
          <a:xfrm>
            <a:off x="2728913" y="1285875"/>
            <a:ext cx="3686175" cy="2143125"/>
          </a:xfrm>
          <a:prstGeom prst="roundRect">
            <a:avLst>
              <a:gd fmla="val 6000" name="adj"/>
            </a:avLst>
          </a:prstGeom>
          <a:solidFill>
            <a:srgbClr val="172A46"/>
          </a:solidFill>
          <a:ln>
            <a:noFill/>
          </a:ln>
        </p:spPr>
        <p:txBody>
          <a:bodyPr anchorCtr="0" anchor="ctr" bIns="71450" lIns="100025" spcFirstLastPara="1" rIns="100025" wrap="square" tIns="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field_spec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────────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table_name · version · change_note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fields[ ]</a:t>
            </a:r>
            <a:endParaRPr sz="1100"/>
          </a:p>
        </p:txBody>
      </p:sp>
      <p:sp>
        <p:nvSpPr>
          <p:cNvPr id="216" name="Google Shape;216;p22"/>
          <p:cNvSpPr/>
          <p:nvPr/>
        </p:nvSpPr>
        <p:spPr>
          <a:xfrm>
            <a:off x="342900" y="1314450"/>
            <a:ext cx="1814513" cy="842963"/>
          </a:xfrm>
          <a:prstGeom prst="roundRect">
            <a:avLst>
              <a:gd fmla="val 15254" name="adj"/>
            </a:avLst>
          </a:prstGeom>
          <a:solidFill>
            <a:srgbClr val="DCE9FF"/>
          </a:solidFill>
          <a:ln>
            <a:noFill/>
          </a:ln>
        </p:spPr>
        <p:txBody>
          <a:bodyPr anchorCtr="0" anchor="ctr" bIns="71450" lIns="100025" spcFirstLastPara="1" rIns="100025" wrap="square" tIns="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unique・empty・enum・pattern</a:t>
            </a:r>
            <a:endParaRPr sz="1100"/>
          </a:p>
        </p:txBody>
      </p:sp>
      <p:sp>
        <p:nvSpPr>
          <p:cNvPr id="217" name="Google Shape;217;p22"/>
          <p:cNvSpPr/>
          <p:nvPr/>
        </p:nvSpPr>
        <p:spPr>
          <a:xfrm>
            <a:off x="342900" y="2386013"/>
            <a:ext cx="1814513" cy="842963"/>
          </a:xfrm>
          <a:prstGeom prst="roundRect">
            <a:avLst>
              <a:gd fmla="val 15254" name="adj"/>
            </a:avLst>
          </a:prstGeom>
          <a:solidFill>
            <a:srgbClr val="E7FAF0"/>
          </a:solidFill>
          <a:ln>
            <a:noFill/>
          </a:ln>
        </p:spPr>
        <p:txBody>
          <a:bodyPr anchorCtr="0" anchor="ctr" bIns="71450" lIns="100025" spcFirstLastPara="1" rIns="100025" wrap="square" tIns="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INT / FLOAT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min_value・max_value</a:t>
            </a:r>
            <a:endParaRPr sz="1100"/>
          </a:p>
        </p:txBody>
      </p:sp>
      <p:sp>
        <p:nvSpPr>
          <p:cNvPr id="218" name="Google Shape;218;p22"/>
          <p:cNvSpPr/>
          <p:nvPr/>
        </p:nvSpPr>
        <p:spPr>
          <a:xfrm>
            <a:off x="6986588" y="1314450"/>
            <a:ext cx="1814513" cy="842963"/>
          </a:xfrm>
          <a:prstGeom prst="roundRect">
            <a:avLst>
              <a:gd fmla="val 15254" name="adj"/>
            </a:avLst>
          </a:prstGeom>
          <a:solidFill>
            <a:srgbClr val="FFF1C7"/>
          </a:solidFill>
          <a:ln>
            <a:noFill/>
          </a:ln>
        </p:spPr>
        <p:txBody>
          <a:bodyPr anchorCtr="0" anchor="ctr" bIns="71450" lIns="100025" spcFirstLastPara="1" rIns="100025" wrap="square" tIns="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DATETIME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after・before・format</a:t>
            </a:r>
            <a:endParaRPr sz="1100"/>
          </a:p>
        </p:txBody>
      </p:sp>
      <p:sp>
        <p:nvSpPr>
          <p:cNvPr id="219" name="Google Shape;219;p22"/>
          <p:cNvSpPr/>
          <p:nvPr/>
        </p:nvSpPr>
        <p:spPr>
          <a:xfrm>
            <a:off x="6986588" y="2386013"/>
            <a:ext cx="1814513" cy="842963"/>
          </a:xfrm>
          <a:prstGeom prst="roundRect">
            <a:avLst>
              <a:gd fmla="val 15254" name="adj"/>
            </a:avLst>
          </a:prstGeom>
          <a:solidFill>
            <a:srgbClr val="DCE9FF"/>
          </a:solidFill>
          <a:ln>
            <a:noFill/>
          </a:ln>
        </p:spPr>
        <p:txBody>
          <a:bodyPr anchorCtr="0" anchor="ctr" bIns="71450" lIns="100025" spcFirstLastPara="1" rIns="100025" wrap="square" tIns="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BOOLEAN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nullable・invalid tokens</a:t>
            </a:r>
            <a:endParaRPr sz="1100"/>
          </a:p>
        </p:txBody>
      </p:sp>
      <p:sp>
        <p:nvSpPr>
          <p:cNvPr id="220" name="Google Shape;220;p22"/>
          <p:cNvSpPr/>
          <p:nvPr/>
        </p:nvSpPr>
        <p:spPr>
          <a:xfrm>
            <a:off x="1843088" y="3714750"/>
            <a:ext cx="5457825" cy="585788"/>
          </a:xfrm>
          <a:prstGeom prst="roundRect">
            <a:avLst>
              <a:gd fmla="val 19512" name="adj"/>
            </a:avLst>
          </a:prstGeom>
          <a:solidFill>
            <a:srgbClr val="FFFFFF"/>
          </a:solidFill>
          <a:ln cap="flat" cmpd="sng" w="9525">
            <a:solidFill>
              <a:srgbClr val="CA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2014538" y="3864769"/>
            <a:ext cx="51149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所有欄位共同紀錄：dtype｜nullable｜invalid_value_tokens｜confidence｜source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3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3"/>
          <p:cNvSpPr/>
          <p:nvPr/>
        </p:nvSpPr>
        <p:spPr>
          <a:xfrm>
            <a:off x="342900" y="442913"/>
            <a:ext cx="8286750" cy="500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7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Phase 3 把人的確認變成可稽核的版本閘門</a:t>
            </a:r>
            <a:endParaRPr sz="1100"/>
          </a:p>
        </p:txBody>
      </p:sp>
      <p:cxnSp>
        <p:nvCxnSpPr>
          <p:cNvPr id="228" name="Google Shape;228;p23"/>
          <p:cNvCxnSpPr/>
          <p:nvPr/>
        </p:nvCxnSpPr>
        <p:spPr>
          <a:xfrm>
            <a:off x="342900" y="978694"/>
            <a:ext cx="8458200" cy="0"/>
          </a:xfrm>
          <a:prstGeom prst="straightConnector1">
            <a:avLst/>
          </a:prstGeom>
          <a:noFill/>
          <a:ln cap="flat" cmpd="sng" w="9525">
            <a:solidFill>
              <a:srgbClr val="CA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23"/>
          <p:cNvSpPr/>
          <p:nvPr/>
        </p:nvSpPr>
        <p:spPr>
          <a:xfrm>
            <a:off x="2043113" y="2050256"/>
            <a:ext cx="371475" cy="25717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AD0D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4043363" y="2050256"/>
            <a:ext cx="371475" cy="25717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AD0D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6043613" y="2050256"/>
            <a:ext cx="371475" cy="25717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75CD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3"/>
          <p:cNvSpPr/>
          <p:nvPr/>
        </p:nvSpPr>
        <p:spPr>
          <a:xfrm>
            <a:off x="342900" y="1557338"/>
            <a:ext cx="1700213" cy="1243013"/>
          </a:xfrm>
          <a:prstGeom prst="roundRect">
            <a:avLst>
              <a:gd fmla="val 10345" name="adj"/>
            </a:avLst>
          </a:prstGeom>
          <a:solidFill>
            <a:srgbClr val="DCE9FF"/>
          </a:solidFill>
          <a:ln>
            <a:noFill/>
          </a:ln>
        </p:spPr>
        <p:txBody>
          <a:bodyPr anchorCtr="0" anchor="ctr" bIns="71450" lIns="100025" spcFirstLastPara="1" rIns="100025" wrap="square" tIns="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Draft Spec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含 confidence / source</a:t>
            </a:r>
            <a:endParaRPr sz="1100"/>
          </a:p>
        </p:txBody>
      </p:sp>
      <p:sp>
        <p:nvSpPr>
          <p:cNvPr id="233" name="Google Shape;233;p23"/>
          <p:cNvSpPr/>
          <p:nvPr/>
        </p:nvSpPr>
        <p:spPr>
          <a:xfrm>
            <a:off x="2414588" y="1557338"/>
            <a:ext cx="1628775" cy="1243013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71450" lIns="100025" spcFirstLastPara="1" rIns="100025" wrap="square" tIns="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完整 Markdown Tables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不省略任何 Property</a:t>
            </a:r>
            <a:endParaRPr sz="1100"/>
          </a:p>
        </p:txBody>
      </p:sp>
      <p:sp>
        <p:nvSpPr>
          <p:cNvPr id="234" name="Google Shape;234;p23"/>
          <p:cNvSpPr/>
          <p:nvPr/>
        </p:nvSpPr>
        <p:spPr>
          <a:xfrm>
            <a:off x="4414838" y="1557338"/>
            <a:ext cx="1628775" cy="1243013"/>
          </a:xfrm>
          <a:prstGeom prst="roundRect">
            <a:avLst>
              <a:gd fmla="val 10345" name="adj"/>
            </a:avLst>
          </a:prstGeom>
          <a:solidFill>
            <a:srgbClr val="FFF1C7"/>
          </a:solidFill>
          <a:ln>
            <a:noFill/>
          </a:ln>
        </p:spPr>
        <p:txBody>
          <a:bodyPr anchorCtr="0" anchor="ctr" bIns="71450" lIns="100025" spcFirstLastPara="1" rIns="100025" wrap="square" tIns="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使用者明確確認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Exact Version</a:t>
            </a:r>
            <a:endParaRPr sz="1100"/>
          </a:p>
        </p:txBody>
      </p:sp>
      <p:sp>
        <p:nvSpPr>
          <p:cNvPr id="235" name="Google Shape;235;p23"/>
          <p:cNvSpPr/>
          <p:nvPr/>
        </p:nvSpPr>
        <p:spPr>
          <a:xfrm>
            <a:off x="6415088" y="1557338"/>
            <a:ext cx="2043113" cy="1243013"/>
          </a:xfrm>
          <a:prstGeom prst="roundRect">
            <a:avLst>
              <a:gd fmla="val 10345" name="adj"/>
            </a:avLst>
          </a:prstGeom>
          <a:solidFill>
            <a:srgbClr val="E7FAF0"/>
          </a:solidFill>
          <a:ln>
            <a:noFill/>
          </a:ln>
        </p:spPr>
        <p:txBody>
          <a:bodyPr anchorCtr="0" anchor="ctr" bIns="71450" lIns="100025" spcFirstLastPara="1" rIns="100025" wrap="square" tIns="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4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允許產生 Artifact</a:t>
            </a:r>
            <a:endParaRPr sz="1100"/>
          </a:p>
        </p:txBody>
      </p:sp>
      <p:sp>
        <p:nvSpPr>
          <p:cNvPr id="236" name="Google Shape;236;p23"/>
          <p:cNvSpPr/>
          <p:nvPr/>
        </p:nvSpPr>
        <p:spPr>
          <a:xfrm>
            <a:off x="2428875" y="3300413"/>
            <a:ext cx="3614737" cy="457200"/>
          </a:xfrm>
          <a:prstGeom prst="roundRect">
            <a:avLst>
              <a:gd fmla="val 18750" name="adj"/>
            </a:avLst>
          </a:prstGeom>
          <a:solidFill>
            <a:srgbClr val="D92D2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2928938" y="3378994"/>
            <a:ext cx="2614613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確認後只要任何規則改動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就回到 Draft 並重新確認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3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/>
          <p:nvPr/>
        </p:nvSpPr>
        <p:spPr>
          <a:xfrm>
            <a:off x="342900" y="442913"/>
            <a:ext cx="8286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700">
                <a:solidFill>
                  <a:srgbClr val="111827"/>
                </a:solidFill>
              </a:rPr>
              <a:t>Phase 4 </a:t>
            </a:r>
            <a:r>
              <a:rPr b="1" lang="zh-TW" sz="27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交付三種成果，讓驗證可以持續使用</a:t>
            </a:r>
            <a:endParaRPr sz="1100"/>
          </a:p>
        </p:txBody>
      </p:sp>
      <p:cxnSp>
        <p:nvCxnSpPr>
          <p:cNvPr id="244" name="Google Shape;244;p24"/>
          <p:cNvCxnSpPr/>
          <p:nvPr/>
        </p:nvCxnSpPr>
        <p:spPr>
          <a:xfrm>
            <a:off x="342900" y="978694"/>
            <a:ext cx="8458200" cy="0"/>
          </a:xfrm>
          <a:prstGeom prst="straightConnector1">
            <a:avLst/>
          </a:prstGeom>
          <a:noFill/>
          <a:ln cap="flat" cmpd="sng" w="9525">
            <a:solidFill>
              <a:srgbClr val="CAD0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24"/>
          <p:cNvSpPr/>
          <p:nvPr/>
        </p:nvSpPr>
        <p:spPr>
          <a:xfrm>
            <a:off x="2771775" y="2200275"/>
            <a:ext cx="543000" cy="30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AD0D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4"/>
          <p:cNvSpPr/>
          <p:nvPr/>
        </p:nvSpPr>
        <p:spPr>
          <a:xfrm>
            <a:off x="5829300" y="2200275"/>
            <a:ext cx="543000" cy="30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AD0D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4"/>
          <p:cNvSpPr/>
          <p:nvPr/>
        </p:nvSpPr>
        <p:spPr>
          <a:xfrm>
            <a:off x="342900" y="1371600"/>
            <a:ext cx="2428800" cy="2043000"/>
          </a:xfrm>
          <a:prstGeom prst="roundRect">
            <a:avLst>
              <a:gd fmla="val 3497" name="adj"/>
            </a:avLst>
          </a:prstGeom>
          <a:solidFill>
            <a:srgbClr val="FFFFFF"/>
          </a:solidFill>
          <a:ln cap="flat" cmpd="sng" w="9525">
            <a:solidFill>
              <a:srgbClr val="175CD3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4"/>
          <p:cNvSpPr/>
          <p:nvPr/>
        </p:nvSpPr>
        <p:spPr>
          <a:xfrm>
            <a:off x="342900" y="1371600"/>
            <a:ext cx="2428800" cy="142800"/>
          </a:xfrm>
          <a:prstGeom prst="rect">
            <a:avLst/>
          </a:prstGeom>
          <a:solidFill>
            <a:srgbClr val="175CD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4"/>
          <p:cNvSpPr/>
          <p:nvPr/>
        </p:nvSpPr>
        <p:spPr>
          <a:xfrm>
            <a:off x="528638" y="1700213"/>
            <a:ext cx="20574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① 已確認規則</a:t>
            </a:r>
            <a:endParaRPr sz="1100"/>
          </a:p>
        </p:txBody>
      </p:sp>
      <p:sp>
        <p:nvSpPr>
          <p:cNvPr id="250" name="Google Shape;250;p24"/>
          <p:cNvSpPr/>
          <p:nvPr/>
        </p:nvSpPr>
        <p:spPr>
          <a:xfrm>
            <a:off x="542925" y="2171700"/>
            <a:ext cx="20289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110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保存大家同意的欄位規則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5B647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110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可追溯版本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110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可再次檢視與修改</a:t>
            </a:r>
            <a:endParaRPr sz="1100"/>
          </a:p>
        </p:txBody>
      </p:sp>
      <p:sp>
        <p:nvSpPr>
          <p:cNvPr id="251" name="Google Shape;251;p24"/>
          <p:cNvSpPr/>
          <p:nvPr/>
        </p:nvSpPr>
        <p:spPr>
          <a:xfrm>
            <a:off x="3314700" y="1371600"/>
            <a:ext cx="2514600" cy="2043000"/>
          </a:xfrm>
          <a:prstGeom prst="roundRect">
            <a:avLst>
              <a:gd fmla="val 3497" name="adj"/>
            </a:avLst>
          </a:prstGeom>
          <a:solidFill>
            <a:srgbClr val="FFFFFF"/>
          </a:solidFill>
          <a:ln cap="flat" cmpd="sng" w="9525">
            <a:solidFill>
              <a:srgbClr val="B9F5D8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4"/>
          <p:cNvSpPr/>
          <p:nvPr/>
        </p:nvSpPr>
        <p:spPr>
          <a:xfrm>
            <a:off x="3314700" y="1371600"/>
            <a:ext cx="2514600" cy="142800"/>
          </a:xfrm>
          <a:prstGeom prst="rect">
            <a:avLst/>
          </a:prstGeom>
          <a:solidFill>
            <a:srgbClr val="B9F5D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4"/>
          <p:cNvSpPr/>
          <p:nvPr/>
        </p:nvSpPr>
        <p:spPr>
          <a:xfrm>
            <a:off x="3500438" y="1700213"/>
            <a:ext cx="21432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② 驗證套件</a:t>
            </a:r>
            <a:endParaRPr sz="1100"/>
          </a:p>
        </p:txBody>
      </p:sp>
      <p:sp>
        <p:nvSpPr>
          <p:cNvPr id="254" name="Google Shape;254;p24"/>
          <p:cNvSpPr/>
          <p:nvPr/>
        </p:nvSpPr>
        <p:spPr>
          <a:xfrm>
            <a:off x="3514725" y="2171700"/>
            <a:ext cx="21147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110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讓資料流程自動檢查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5B647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110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把錯誤提早發現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110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建立一致品質標準</a:t>
            </a:r>
            <a:endParaRPr sz="1100"/>
          </a:p>
        </p:txBody>
      </p:sp>
      <p:sp>
        <p:nvSpPr>
          <p:cNvPr id="255" name="Google Shape;255;p24"/>
          <p:cNvSpPr/>
          <p:nvPr/>
        </p:nvSpPr>
        <p:spPr>
          <a:xfrm>
            <a:off x="6372225" y="1371600"/>
            <a:ext cx="2428800" cy="2043000"/>
          </a:xfrm>
          <a:prstGeom prst="roundRect">
            <a:avLst>
              <a:gd fmla="val 3497" name="adj"/>
            </a:avLst>
          </a:prstGeom>
          <a:solidFill>
            <a:srgbClr val="FFFFFF"/>
          </a:solidFill>
          <a:ln cap="flat" cmpd="sng" w="9525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4"/>
          <p:cNvSpPr/>
          <p:nvPr/>
        </p:nvSpPr>
        <p:spPr>
          <a:xfrm>
            <a:off x="6372225" y="1371600"/>
            <a:ext cx="2428800" cy="14280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4"/>
          <p:cNvSpPr/>
          <p:nvPr/>
        </p:nvSpPr>
        <p:spPr>
          <a:xfrm>
            <a:off x="6557963" y="1700213"/>
            <a:ext cx="20574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rgbClr val="172A46"/>
                </a:solidFill>
                <a:latin typeface="Arial"/>
                <a:ea typeface="Arial"/>
                <a:cs typeface="Arial"/>
                <a:sym typeface="Arial"/>
              </a:rPr>
              <a:t>③ 測試資料</a:t>
            </a:r>
            <a:endParaRPr sz="1100"/>
          </a:p>
        </p:txBody>
      </p:sp>
      <p:sp>
        <p:nvSpPr>
          <p:cNvPr id="258" name="Google Shape;258;p24"/>
          <p:cNvSpPr/>
          <p:nvPr/>
        </p:nvSpPr>
        <p:spPr>
          <a:xfrm>
            <a:off x="6572250" y="2171700"/>
            <a:ext cx="20289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110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快速準備符合規則的範例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5B647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110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支援測試與展示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110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不直接寫入正式資料庫</a:t>
            </a:r>
            <a:endParaRPr sz="1100"/>
          </a:p>
        </p:txBody>
      </p:sp>
      <p:sp>
        <p:nvSpPr>
          <p:cNvPr id="259" name="Google Shape;259;p24"/>
          <p:cNvSpPr/>
          <p:nvPr/>
        </p:nvSpPr>
        <p:spPr>
          <a:xfrm>
            <a:off x="1143000" y="3786188"/>
            <a:ext cx="6858000" cy="614400"/>
          </a:xfrm>
          <a:prstGeom prst="roundRect">
            <a:avLst>
              <a:gd fmla="val 18605" name="adj"/>
            </a:avLst>
          </a:prstGeom>
          <a:solidFill>
            <a:srgbClr val="172A4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4"/>
          <p:cNvSpPr/>
          <p:nvPr/>
        </p:nvSpPr>
        <p:spPr>
          <a:xfrm>
            <a:off x="1357313" y="3929063"/>
            <a:ext cx="64293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從一次性討論，變成可追溯、可重複執行的資料品質資產。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